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14400"/>
            <a:ext cx="91440" cy="4480560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51560"/>
            <a:ext cx="9966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HOUSE PRICE</a:t>
            </a:r>
            <a:br/>
            <a:r>
              <a:t>PREDICTION</a:t>
            </a:r>
          </a:p>
          <a:p>
            <a:pPr>
              <a:defRPr sz="1900">
                <a:solidFill>
                  <a:srgbClr val="C6D3E1"/>
                </a:solidFill>
              </a:defRPr>
            </a:pPr>
            <a:r>
              <a:t>Machine Learning Regression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977639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C3D0DE"/>
                </a:solidFill>
              </a:defRPr>
            </a:pPr>
            <a:r>
              <a:t>Project Presentation</a:t>
            </a:r>
          </a:p>
          <a:p>
            <a:pPr>
              <a:spcAft>
                <a:spcPts val="500"/>
              </a:spcAft>
              <a:defRPr sz="1200">
                <a:solidFill>
                  <a:srgbClr val="C3D0DE"/>
                </a:solidFill>
              </a:defRPr>
            </a:pPr>
            <a:r>
              <a:t>Himanshu Tomar</a:t>
            </a:r>
          </a:p>
          <a:p>
            <a:pPr>
              <a:spcAft>
                <a:spcPts val="500"/>
              </a:spcAft>
              <a:defRPr sz="1200">
                <a:solidFill>
                  <a:srgbClr val="C3D0DE"/>
                </a:solidFill>
              </a:defRPr>
            </a:pPr>
            <a:r>
              <a:t>August 18,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4800600"/>
            <a:ext cx="2514600" cy="566928"/>
          </a:xfrm>
          <a:prstGeom prst="round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4956048"/>
            <a:ext cx="2514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FINAL MODEL  •  LINEAR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F6091"/>
                </a:solidFill>
              </a:defRPr>
            </a:pPr>
            <a: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D2D"/>
                </a:solidFill>
              </a:defRPr>
            </a:pPr>
            <a:r>
              <a:t>From raw data to a defensible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261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978"/>
                </a:solidFill>
              </a:defRPr>
            </a:pPr>
            <a:r>
              <a:t>A complete end-to-end regression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2011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64008" cy="1965960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219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D2D"/>
                </a:solidFill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1627632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B6978"/>
                </a:solidFill>
              </a:defRPr>
            </a:pPr>
            <a:r>
              <a:t>Inspect &amp; 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978"/>
                </a:solidFill>
              </a:defRPr>
            </a:pPr>
            <a: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2057400"/>
            <a:ext cx="2011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39" y="2057400"/>
            <a:ext cx="64008" cy="1965960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39" y="22219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D2D"/>
                </a:solidFill>
              </a:defRPr>
            </a:pPr>
            <a:r>
              <a:t>EDA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39" y="2651760"/>
            <a:ext cx="1627632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B6978"/>
                </a:solidFill>
              </a:defRPr>
            </a:pPr>
            <a:r>
              <a:t>Understand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783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978"/>
                </a:solidFill>
              </a:defRPr>
            </a:pPr>
            <a: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2057400"/>
            <a:ext cx="2011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66359" y="2057400"/>
            <a:ext cx="64008" cy="1965960"/>
          </a:xfrm>
          <a:prstGeom prst="rect">
            <a:avLst/>
          </a:prstGeom>
          <a:solidFill>
            <a:srgbClr val="B9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59" y="22219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D2D"/>
                </a:solidFill>
              </a:defRPr>
            </a:pPr>
            <a:r>
              <a:t>PREP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2651760"/>
            <a:ext cx="1627632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B6978"/>
                </a:solidFill>
              </a:defRPr>
            </a:pPr>
            <a:r>
              <a:t>Encode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1783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978"/>
                </a:solidFill>
              </a:defRPr>
            </a:pPr>
            <a: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057400"/>
            <a:ext cx="2011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057400"/>
            <a:ext cx="64008" cy="1965960"/>
          </a:xfrm>
          <a:prstGeom prst="rect">
            <a:avLst/>
          </a:prstGeom>
          <a:solidFill>
            <a:srgbClr val="358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22219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D2D"/>
                </a:solidFill>
              </a:defRPr>
            </a:pPr>
            <a: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651760"/>
            <a:ext cx="1627632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B6978"/>
                </a:solidFill>
              </a:defRPr>
            </a:pPr>
            <a:r>
              <a:t>Train 3 regressors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9" y="1783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978"/>
                </a:solidFill>
              </a:defRPr>
            </a:pPr>
            <a: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057400"/>
            <a:ext cx="2011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29800" y="2057400"/>
            <a:ext cx="64008" cy="1965960"/>
          </a:xfrm>
          <a:prstGeom prst="rect">
            <a:avLst/>
          </a:prstGeom>
          <a:solidFill>
            <a:srgbClr val="358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22219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D2D"/>
                </a:solidFill>
              </a:defRPr>
            </a:pPr>
            <a: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651760"/>
            <a:ext cx="1627632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5B6978"/>
                </a:solidFill>
              </a:defRPr>
            </a:pPr>
            <a:r>
              <a:t>Compare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1783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978"/>
                </a:solidFill>
              </a:defRPr>
            </a:pPr>
            <a:r>
              <a:t>05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514600" y="3017520"/>
            <a:ext cx="27432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46320" y="3017520"/>
            <a:ext cx="27432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78040" y="3017520"/>
            <a:ext cx="274319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509759" y="3017520"/>
            <a:ext cx="274321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103120" y="4617720"/>
            <a:ext cx="795527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03120" y="4617720"/>
            <a:ext cx="64008" cy="960120"/>
          </a:xfrm>
          <a:prstGeom prst="rect">
            <a:avLst/>
          </a:prstGeom>
          <a:solidFill>
            <a:srgbClr val="358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1720" y="4782312"/>
            <a:ext cx="7589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D2D"/>
                </a:solidFill>
              </a:defRPr>
            </a:pPr>
            <a:r>
              <a:t>Project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212080"/>
            <a:ext cx="75712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5B6978"/>
                </a:solidFill>
              </a:defRPr>
            </a:pPr>
            <a:r>
              <a:t>Select the model with the strongest overall test-set performance, not simply the best single metric.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44652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</a:defRPr>
            </a:pPr>
            <a:r>
              <a:t>House Price Prediction • Machine Learning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F6091"/>
                </a:solidFill>
              </a:defRPr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D2D"/>
                </a:solidFill>
              </a:defRPr>
            </a:pPr>
            <a:r>
              <a:t>What the model learns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261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978"/>
                </a:solidFill>
              </a:defRPr>
            </a:pPr>
            <a:r>
              <a:t>House characteristics form the predictive feature 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6091"/>
                </a:solidFill>
              </a:defRPr>
            </a:pPr>
            <a: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39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Price is the target variable.</a:t>
            </a:r>
          </a:p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Numerical and categorical predictors are included.</a:t>
            </a:r>
          </a:p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Location is represented through city and state/ZIP.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5805E"/>
                </a:solidFill>
              </a:defRPr>
            </a:pPr>
            <a:r>
              <a:t>Key predictors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39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Bedrooms &amp; bathrooms</a:t>
            </a:r>
          </a:p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Living area &amp; lot size</a:t>
            </a:r>
          </a:p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Floors, waterfront, view, condition</a:t>
            </a:r>
          </a:p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Construction &amp; renovation 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2024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F4848"/>
                </a:solidFill>
              </a:defRPr>
            </a:pPr>
            <a:r>
              <a:t>Excluded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77439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Date</a:t>
            </a:r>
          </a:p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Street — very high cardinality</a:t>
            </a:r>
          </a:p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Country — only one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4652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</a:defRPr>
            </a:pPr>
            <a:r>
              <a:t>House Price Prediction • Machine Learning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F6091"/>
                </a:solidFill>
              </a:defRPr>
            </a:pPr>
            <a: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D2D"/>
                </a:solidFill>
              </a:defRPr>
            </a:pPr>
            <a:r>
              <a:t>Exploration before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261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978"/>
                </a:solidFill>
              </a:defRPr>
            </a:pPr>
            <a:r>
              <a:t>Six meaningful visualizations were used to understand price behavior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4008" cy="1600200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D2D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999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Price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64008" cy="1600200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0195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D2D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2999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Price vs living area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7373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1737360"/>
            <a:ext cx="64008" cy="1600200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90195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D2D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2331720"/>
            <a:ext cx="2999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Correlation heatmap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703320"/>
            <a:ext cx="64008" cy="1600200"/>
          </a:xfrm>
          <a:prstGeom prst="rect">
            <a:avLst/>
          </a:prstGeom>
          <a:solidFill>
            <a:srgbClr val="358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86791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D2D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97680"/>
            <a:ext cx="2999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Price vs bedrooms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703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703320"/>
            <a:ext cx="64008" cy="1600200"/>
          </a:xfrm>
          <a:prstGeom prst="rect">
            <a:avLst/>
          </a:prstGeom>
          <a:solidFill>
            <a:srgbClr val="358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86791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D2D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297680"/>
            <a:ext cx="2999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Price vs bathrooms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3703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59" y="3703320"/>
            <a:ext cx="64008" cy="1600200"/>
          </a:xfrm>
          <a:prstGeom prst="rect">
            <a:avLst/>
          </a:prstGeom>
          <a:solidFill>
            <a:srgbClr val="358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386791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1D2D"/>
                </a:solidFill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4297680"/>
            <a:ext cx="2999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Price by waterfront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4652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</a:defRPr>
            </a:pPr>
            <a:r>
              <a:t>House Price Prediction • Machine Learning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F6091"/>
                </a:solidFill>
              </a:defRPr>
            </a:pPr>
            <a:r>
              <a:t>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D2D"/>
                </a:solidFill>
              </a:defRPr>
            </a:pPr>
            <a:r>
              <a:t>Feature engineering that keeps training and testing consistent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261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978"/>
                </a:solidFill>
              </a:defRPr>
            </a:pPr>
            <a:r>
              <a:t>Categorical variables are encoded inside the modeling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3474720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D2D"/>
                </a:solidFill>
              </a:defRPr>
            </a:pPr>
            <a:r>
              <a:t>Numerical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29992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12 numerical features</a:t>
            </a:r>
          </a:p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Passed through the numeric branch of the ColumnTransformer.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64008" cy="3474720"/>
          </a:xfrm>
          <a:prstGeom prst="rect">
            <a:avLst/>
          </a:prstGeom>
          <a:solidFill>
            <a:srgbClr val="B9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476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D2D"/>
                </a:solidFill>
              </a:defRPr>
            </a:pPr>
            <a:r>
              <a:t>Categorical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77440"/>
            <a:ext cx="29992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city</a:t>
            </a:r>
          </a:p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statezip</a:t>
            </a:r>
          </a:p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One-Hot Encoding with handle_unknown='ignore'.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8308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783080"/>
            <a:ext cx="64008" cy="3474720"/>
          </a:xfrm>
          <a:prstGeom prst="rect">
            <a:avLst/>
          </a:prstGeom>
          <a:solidFill>
            <a:srgbClr val="358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9476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D2D"/>
                </a:solidFill>
              </a:defRPr>
            </a:pPr>
            <a:r>
              <a:t>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77440"/>
            <a:ext cx="29992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80% training</a:t>
            </a:r>
          </a:p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20% testing</a:t>
            </a:r>
          </a:p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random_state = 42</a:t>
            </a:r>
          </a:p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5B6978"/>
                </a:solidFill>
              </a:defRPr>
            </a:pPr>
            <a:r>
              <a:t>Test data remains unseen during fitting.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4652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</a:defRPr>
            </a:pPr>
            <a:r>
              <a:t>House Price Prediction • Machine Learning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F6091"/>
                </a:solidFill>
              </a:defRPr>
            </a:pPr>
            <a:r>
              <a:t>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D2D"/>
                </a:solidFill>
              </a:defRPr>
            </a:pPr>
            <a:r>
              <a:t>Three models, one evaluation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261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978"/>
                </a:solidFill>
              </a:defRPr>
            </a:pPr>
            <a:r>
              <a:t>The same split and metrics make the comparison meaningful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3291840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D2D"/>
                </a:solidFill>
              </a:defRPr>
            </a:pPr>
            <a:r>
              <a:t>Linear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29992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B6978"/>
                </a:solidFill>
              </a:defRPr>
            </a:pPr>
            <a:r>
              <a:t>Baseline regression model</a:t>
            </a:r>
          </a:p>
          <a:p>
            <a:pPr>
              <a:spcAft>
                <a:spcPts val="500"/>
              </a:spcAft>
              <a:defRPr sz="1250">
                <a:solidFill>
                  <a:srgbClr val="5B6978"/>
                </a:solidFill>
              </a:defRPr>
            </a:pPr>
          </a:p>
          <a:p>
            <a:pPr>
              <a:spcAft>
                <a:spcPts val="500"/>
              </a:spcAft>
              <a:defRPr sz="1250">
                <a:solidFill>
                  <a:srgbClr val="5B6978"/>
                </a:solidFill>
              </a:defRPr>
            </a:pPr>
            <a:r>
              <a:t>Strong overall test performance in this project.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64008" cy="3291840"/>
          </a:xfrm>
          <a:prstGeom prst="rect">
            <a:avLst/>
          </a:prstGeom>
          <a:solidFill>
            <a:srgbClr val="B9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933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D2D"/>
                </a:solidFill>
              </a:defRPr>
            </a:pPr>
            <a:r>
              <a:t>Decision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23160"/>
            <a:ext cx="29992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B6978"/>
                </a:solidFill>
              </a:defRPr>
            </a:pPr>
            <a:r>
              <a:t>Nonlinear, rule-based model</a:t>
            </a:r>
          </a:p>
          <a:p>
            <a:pPr>
              <a:spcAft>
                <a:spcPts val="500"/>
              </a:spcAft>
              <a:defRPr sz="1250">
                <a:solidFill>
                  <a:srgbClr val="5B6978"/>
                </a:solidFill>
              </a:defRPr>
            </a:pPr>
          </a:p>
          <a:p>
            <a:pPr>
              <a:spcAft>
                <a:spcPts val="500"/>
              </a:spcAft>
              <a:defRPr sz="1250">
                <a:solidFill>
                  <a:srgbClr val="5B6978"/>
                </a:solidFill>
              </a:defRPr>
            </a:pPr>
            <a:r>
              <a:t>Represents relationships through tree splits.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64008" cy="3291840"/>
          </a:xfrm>
          <a:prstGeom prst="rect">
            <a:avLst/>
          </a:prstGeom>
          <a:solidFill>
            <a:srgbClr val="358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9933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D2D"/>
                </a:solidFill>
              </a:defRPr>
            </a:pPr>
            <a:r>
              <a:t>Random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23160"/>
            <a:ext cx="29992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5B6978"/>
                </a:solidFill>
              </a:defRPr>
            </a:pPr>
            <a:r>
              <a:t>Ensemble of decision trees</a:t>
            </a:r>
          </a:p>
          <a:p>
            <a:pPr>
              <a:spcAft>
                <a:spcPts val="500"/>
              </a:spcAft>
              <a:defRPr sz="1250">
                <a:solidFill>
                  <a:srgbClr val="5B6978"/>
                </a:solidFill>
              </a:defRPr>
            </a:pPr>
          </a:p>
          <a:p>
            <a:pPr>
              <a:spcAft>
                <a:spcPts val="500"/>
              </a:spcAft>
              <a:defRPr sz="1250">
                <a:solidFill>
                  <a:srgbClr val="5B6978"/>
                </a:solidFill>
              </a:defRPr>
            </a:pPr>
            <a:r>
              <a:t>Lowest MAE among the three models.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4652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</a:defRPr>
            </a:pPr>
            <a:r>
              <a:t>House Price Prediction • Machine Learning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F6091"/>
                </a:solidFill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D2D"/>
                </a:solidFill>
              </a:defRPr>
            </a:pPr>
            <a:r>
              <a:t>How model quality was judged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261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978"/>
                </a:solidFill>
              </a:defRPr>
            </a:pPr>
            <a:r>
              <a:t>No single metric tells the whole 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975104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978"/>
                </a:solidFill>
              </a:defRPr>
            </a:pPr>
            <a: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267712"/>
            <a:ext cx="2240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5805E"/>
                </a:solidFill>
              </a:defRPr>
            </a:pPr>
            <a:r>
              <a:t>121,307.27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975104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978"/>
                </a:solidFill>
              </a:defRPr>
            </a:pPr>
            <a:r>
              <a:t>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267712"/>
            <a:ext cx="2240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F6091"/>
                </a:solidFill>
              </a:defRPr>
            </a:pPr>
            <a:r>
              <a:t>5.4014e+10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288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1975104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978"/>
                </a:solidFill>
              </a:defRPr>
            </a:pPr>
            <a:r>
              <a:t>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2267712"/>
            <a:ext cx="2240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F6091"/>
                </a:solidFill>
              </a:defRPr>
            </a:pPr>
            <a:r>
              <a:t>232,409.25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8288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1975104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978"/>
                </a:solidFill>
              </a:defRPr>
            </a:pPr>
            <a:r>
              <a:t>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2267712"/>
            <a:ext cx="2240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F6091"/>
                </a:solidFill>
              </a:defRPr>
            </a:pPr>
            <a:r>
              <a:t>0.6369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57600"/>
            <a:ext cx="9966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57600"/>
            <a:ext cx="64008" cy="1417320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822191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1D2D"/>
                </a:solidFill>
              </a:defRPr>
            </a:pPr>
            <a:r>
              <a:t>Reading the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51960"/>
            <a:ext cx="95829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B6978"/>
                </a:solidFill>
              </a:defRPr>
            </a:pPr>
            <a:r>
              <a:t>MAE = average absolute error • MSE = larger-error penalty • RMSE = error in price units • R² = explained variation. Lower is better for MAE/MSE/RMSE; higher is better for R².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4652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</a:defRPr>
            </a:pPr>
            <a:r>
              <a:t>House Price Prediction • Machine Learning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F6091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D2D"/>
                </a:solidFill>
              </a:defRPr>
            </a:pPr>
            <a:r>
              <a:t>The comparison reveals a trade-off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261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978"/>
                </a:solidFill>
              </a:defRPr>
            </a:pPr>
            <a:r>
              <a:t>Random Forest wins MAE; Linear Regression wins the broader performance picture</a:t>
            </a:r>
          </a:p>
        </p:txBody>
      </p:sp>
      <p:pic>
        <p:nvPicPr>
          <p:cNvPr id="8" name="Picture 7" descr="r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303520" cy="2481943"/>
          </a:xfrm>
          <a:prstGeom prst="rect">
            <a:avLst/>
          </a:prstGeom>
        </p:spPr>
      </p:pic>
      <p:pic>
        <p:nvPicPr>
          <p:cNvPr id="9" name="Picture 8" descr="rms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5303520" cy="24782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166360"/>
            <a:ext cx="4983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166360"/>
            <a:ext cx="64008" cy="731520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330952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21D2D"/>
                </a:solidFill>
              </a:defRPr>
            </a:pPr>
            <a:r>
              <a:t>Highest 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760720"/>
            <a:ext cx="459943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5B6978"/>
                </a:solidFill>
              </a:defRPr>
            </a:pPr>
            <a:r>
              <a:t>Linear Regression • 0.6369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5166360"/>
            <a:ext cx="4983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5166360"/>
            <a:ext cx="64008" cy="731520"/>
          </a:xfrm>
          <a:prstGeom prst="rect">
            <a:avLst/>
          </a:prstGeom>
          <a:solidFill>
            <a:srgbClr val="358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5330952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21D2D"/>
                </a:solidFill>
              </a:defRPr>
            </a:pPr>
            <a:r>
              <a:t>Lowest RMSE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760720"/>
            <a:ext cx="459943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5B6978"/>
                </a:solidFill>
              </a:defRPr>
            </a:pPr>
            <a:r>
              <a:t>Linear Regression • 232,409.25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4652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</a:defRPr>
            </a:pPr>
            <a:r>
              <a:t>House Price Prediction • Machine Learning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F6091"/>
                </a:solidFill>
              </a:defRPr>
            </a:pPr>
            <a:r>
              <a:t>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00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D2D"/>
                </a:solidFill>
              </a:defRPr>
            </a:pPr>
            <a:r>
              <a:t>Why Linear Regression was selected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261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978"/>
                </a:solidFill>
              </a:defRPr>
            </a:pPr>
            <a:r>
              <a:t>The final choice is based on overall test-set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929384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978"/>
                </a:solidFill>
              </a:defRPr>
            </a:pPr>
            <a:r>
              <a:t>R²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221991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F6091"/>
                </a:solidFill>
              </a:defRPr>
            </a:pPr>
            <a:r>
              <a:t>0.6369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929384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978"/>
                </a:solidFill>
              </a:defRPr>
            </a:pPr>
            <a: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21991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5805E"/>
                </a:solidFill>
              </a:defRPr>
            </a:pPr>
            <a:r>
              <a:t>232,409.25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830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929384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978"/>
                </a:solidFill>
              </a:defRPr>
            </a:pPr>
            <a:r>
              <a:t>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221991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98B2A"/>
                </a:solidFill>
              </a:defRPr>
            </a:pPr>
            <a:r>
              <a:t>5.4014e+10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703320"/>
            <a:ext cx="4709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88620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5805E"/>
                </a:solidFill>
              </a:defRPr>
            </a:pPr>
            <a:r>
              <a:t>What Random Forest did better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43400"/>
            <a:ext cx="42976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Lowest MAE: 121,307.27</a:t>
            </a:r>
          </a:p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Smallest average absolute error.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03320"/>
            <a:ext cx="4709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88620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F4848"/>
                </a:solidFill>
              </a:defRPr>
            </a:pPr>
            <a:r>
              <a:t>Why it was not selected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343400"/>
            <a:ext cx="42976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RMSE and R² were weaker than Linear Regression.</a:t>
            </a:r>
          </a:p>
          <a:p>
            <a:pPr>
              <a:spcAft>
                <a:spcPts val="700"/>
              </a:spcAft>
              <a:defRPr sz="1150">
                <a:solidFill>
                  <a:srgbClr val="5B6978"/>
                </a:solidFill>
              </a:defRPr>
            </a:pPr>
            <a:r>
              <a:t>• Overall performance favored Linear Regression.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4652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</a:defRPr>
            </a:pPr>
            <a:r>
              <a:t>House Price Prediction • Machine Learning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96B9D6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BEC8D4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 clear final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61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3DF"/>
                </a:solidFill>
              </a:defRPr>
            </a:pPr>
            <a:r>
              <a:t>The project completed the required regression workflow and identified a final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FINAL MODEL  •  LINEAR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88920"/>
            <a:ext cx="3017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93522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978"/>
                </a:solidFill>
              </a:defRPr>
            </a:pPr>
            <a:r>
              <a:t>R²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22783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F6091"/>
                </a:solidFill>
              </a:defRPr>
            </a:pPr>
            <a:r>
              <a:t>0.6369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788920"/>
            <a:ext cx="3017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93522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978"/>
                </a:solidFill>
              </a:defRPr>
            </a:pPr>
            <a: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22783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5805E"/>
                </a:solidFill>
              </a:defRPr>
            </a:pPr>
            <a:r>
              <a:t>232,409.25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788920"/>
            <a:ext cx="3017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293522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978"/>
                </a:solidFill>
              </a:defRPr>
            </a:pPr>
            <a:r>
              <a:t>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22783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98B2A"/>
                </a:solidFill>
              </a:defRPr>
            </a:pPr>
            <a:r>
              <a:t>139,638.89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D0DCE8"/>
                </a:solidFill>
              </a:defRPr>
            </a:pPr>
            <a:r>
              <a:t>Three regressors were trained and evaluated on the same test set.</a:t>
            </a:r>
          </a:p>
          <a:p>
            <a:pPr>
              <a:spcAft>
                <a:spcPts val="700"/>
              </a:spcAft>
              <a:defRPr sz="1300">
                <a:solidFill>
                  <a:srgbClr val="D0DCE8"/>
                </a:solidFill>
              </a:defRPr>
            </a:pPr>
            <a:r>
              <a:t>Linear Regression provided the strongest overall result based on R², MSE and RMSE.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46520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AB8C6"/>
                </a:solidFill>
              </a:defRPr>
            </a:pPr>
            <a:r>
              <a:t>House Price Prediction • Machine Learning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